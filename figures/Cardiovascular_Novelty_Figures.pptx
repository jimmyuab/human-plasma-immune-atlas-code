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463040"/>
            <a:ext cx="10088849" cy="365760"/>
          </a:xfrm>
          <a:prstGeom prst="rect">
            <a:avLst/>
          </a:prstGeom>
          <a:noFill/>
        </p:spPr>
        <p:txBody>
          <a:bodyPr wrap="square" lIns="0" rIns="0" tIns="0" bIns="0" anchor="t">
            <a:spAutoFit/>
          </a:bodyPr>
          <a:lstStyle/>
          <a:p>
            <a:pPr algn="l">
              <a:lnSpc>
                <a:spcPct val="100000"/>
              </a:lnSpc>
            </a:pPr>
            <a:r>
              <a:rPr sz="1300" b="1" i="0">
                <a:solidFill>
                  <a:srgbClr val="F2B8B8"/>
                </a:solidFill>
                <a:latin typeface="Calibri"/>
              </a:rPr>
              <a:t>NOVELTY ANALYSIS</a:t>
            </a:r>
          </a:p>
        </p:txBody>
      </p:sp>
      <p:sp>
        <p:nvSpPr>
          <p:cNvPr id="5" name="TextBox 4"/>
          <p:cNvSpPr txBox="1"/>
          <p:nvPr/>
        </p:nvSpPr>
        <p:spPr>
          <a:xfrm>
            <a:off x="1051560" y="1874519"/>
            <a:ext cx="10088849" cy="1371600"/>
          </a:xfrm>
          <a:prstGeom prst="rect">
            <a:avLst/>
          </a:prstGeom>
          <a:noFill/>
        </p:spPr>
        <p:txBody>
          <a:bodyPr wrap="square" lIns="0" rIns="0" tIns="0" bIns="0" anchor="t">
            <a:spAutoFit/>
          </a:bodyPr>
          <a:lstStyle/>
          <a:p>
            <a:pPr algn="l">
              <a:lnSpc>
                <a:spcPct val="105000"/>
              </a:lnSpc>
            </a:pPr>
            <a:r>
              <a:rPr sz="3600" b="1" i="0">
                <a:solidFill>
                  <a:srgbClr val="FFFFFF"/>
                </a:solidFill>
                <a:latin typeface="Calibri"/>
              </a:rPr>
              <a:t>The Plasma Immunome in
Cardiovascular Disease</a:t>
            </a:r>
          </a:p>
        </p:txBody>
      </p:sp>
      <p:sp>
        <p:nvSpPr>
          <p:cNvPr id="6" name="TextBox 5"/>
          <p:cNvSpPr txBox="1"/>
          <p:nvPr/>
        </p:nvSpPr>
        <p:spPr>
          <a:xfrm>
            <a:off x="1051560" y="3154680"/>
            <a:ext cx="9814529" cy="731520"/>
          </a:xfrm>
          <a:prstGeom prst="rect">
            <a:avLst/>
          </a:prstGeom>
          <a:noFill/>
        </p:spPr>
        <p:txBody>
          <a:bodyPr wrap="square" lIns="0" rIns="0" tIns="0" bIns="0" anchor="t">
            <a:spAutoFit/>
          </a:bodyPr>
          <a:lstStyle/>
          <a:p>
            <a:pPr algn="l">
              <a:lnSpc>
                <a:spcPct val="120000"/>
              </a:lnSpc>
            </a:pPr>
            <a:r>
              <a:rPr sz="1500" b="0" i="0">
                <a:solidFill>
                  <a:srgbClr val="F0E0E2"/>
                </a:solidFill>
                <a:latin typeface="Calibri"/>
              </a:rPr>
              <a:t>Which plasma immune proteins cause cardiovascular disease, how much of that
signal is genuinely new, and what should be done about it</a:t>
            </a:r>
          </a:p>
        </p:txBody>
      </p:sp>
      <p:sp>
        <p:nvSpPr>
          <p:cNvPr id="7" name="Rectangle 6"/>
          <p:cNvSpPr/>
          <p:nvPr/>
        </p:nvSpPr>
        <p:spPr>
          <a:xfrm>
            <a:off x="1051560" y="4160520"/>
            <a:ext cx="1842205" cy="1051560"/>
          </a:xfrm>
          <a:prstGeom prst="rect">
            <a:avLst/>
          </a:prstGeom>
          <a:solidFill>
            <a:srgbClr val="92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4315968"/>
            <a:ext cx="1695901" cy="402336"/>
          </a:xfrm>
          <a:prstGeom prst="rect">
            <a:avLst/>
          </a:prstGeom>
          <a:noFill/>
        </p:spPr>
        <p:txBody>
          <a:bodyPr wrap="square" lIns="0" rIns="0" tIns="0" bIns="0" anchor="t">
            <a:spAutoFit/>
          </a:bodyPr>
          <a:lstStyle/>
          <a:p>
            <a:pPr algn="ctr">
              <a:lnSpc>
                <a:spcPct val="100000"/>
              </a:lnSpc>
            </a:pPr>
            <a:r>
              <a:rPr sz="2200" b="1" i="0">
                <a:solidFill>
                  <a:srgbClr val="FFFFFF"/>
                </a:solidFill>
                <a:latin typeface="Calibri"/>
              </a:rPr>
              <a:t>191</a:t>
            </a:r>
          </a:p>
        </p:txBody>
      </p:sp>
      <p:sp>
        <p:nvSpPr>
          <p:cNvPr id="9" name="TextBox 8"/>
          <p:cNvSpPr txBox="1"/>
          <p:nvPr/>
        </p:nvSpPr>
        <p:spPr>
          <a:xfrm>
            <a:off x="1124712" y="4754880"/>
            <a:ext cx="1695901" cy="384048"/>
          </a:xfrm>
          <a:prstGeom prst="rect">
            <a:avLst/>
          </a:prstGeom>
          <a:noFill/>
        </p:spPr>
        <p:txBody>
          <a:bodyPr wrap="square" lIns="0" rIns="0" tIns="0" bIns="0" anchor="t">
            <a:spAutoFit/>
          </a:bodyPr>
          <a:lstStyle/>
          <a:p>
            <a:pPr algn="ctr">
              <a:lnSpc>
                <a:spcPct val="105000"/>
              </a:lnSpc>
            </a:pPr>
            <a:r>
              <a:rPr sz="950" b="0" i="0">
                <a:solidFill>
                  <a:srgbClr val="F0C8CC"/>
                </a:solidFill>
                <a:latin typeface="Calibri"/>
              </a:rPr>
              <a:t>causal pairs
FDR &lt; 5 %</a:t>
            </a:r>
          </a:p>
        </p:txBody>
      </p:sp>
      <p:sp>
        <p:nvSpPr>
          <p:cNvPr id="10" name="Rectangle 9"/>
          <p:cNvSpPr/>
          <p:nvPr/>
        </p:nvSpPr>
        <p:spPr>
          <a:xfrm>
            <a:off x="3113221" y="4160520"/>
            <a:ext cx="1842205" cy="1051560"/>
          </a:xfrm>
          <a:prstGeom prst="rect">
            <a:avLst/>
          </a:prstGeom>
          <a:solidFill>
            <a:srgbClr val="92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86373" y="4315968"/>
            <a:ext cx="1695901" cy="402336"/>
          </a:xfrm>
          <a:prstGeom prst="rect">
            <a:avLst/>
          </a:prstGeom>
          <a:noFill/>
        </p:spPr>
        <p:txBody>
          <a:bodyPr wrap="square" lIns="0" rIns="0" tIns="0" bIns="0" anchor="t">
            <a:spAutoFit/>
          </a:bodyPr>
          <a:lstStyle/>
          <a:p>
            <a:pPr algn="ctr">
              <a:lnSpc>
                <a:spcPct val="100000"/>
              </a:lnSpc>
            </a:pPr>
            <a:r>
              <a:rPr sz="2200" b="1" i="0">
                <a:solidFill>
                  <a:srgbClr val="FFFFFF"/>
                </a:solidFill>
                <a:latin typeface="Calibri"/>
              </a:rPr>
              <a:t>61 × 38</a:t>
            </a:r>
          </a:p>
        </p:txBody>
      </p:sp>
      <p:sp>
        <p:nvSpPr>
          <p:cNvPr id="12" name="TextBox 11"/>
          <p:cNvSpPr txBox="1"/>
          <p:nvPr/>
        </p:nvSpPr>
        <p:spPr>
          <a:xfrm>
            <a:off x="3186373" y="4754880"/>
            <a:ext cx="1695901" cy="384048"/>
          </a:xfrm>
          <a:prstGeom prst="rect">
            <a:avLst/>
          </a:prstGeom>
          <a:noFill/>
        </p:spPr>
        <p:txBody>
          <a:bodyPr wrap="square" lIns="0" rIns="0" tIns="0" bIns="0" anchor="t">
            <a:spAutoFit/>
          </a:bodyPr>
          <a:lstStyle/>
          <a:p>
            <a:pPr algn="ctr">
              <a:lnSpc>
                <a:spcPct val="105000"/>
              </a:lnSpc>
            </a:pPr>
            <a:r>
              <a:rPr sz="950" b="0" i="0">
                <a:solidFill>
                  <a:srgbClr val="F0C8CC"/>
                </a:solidFill>
                <a:latin typeface="Calibri"/>
              </a:rPr>
              <a:t>proteins ×
CV endpoints</a:t>
            </a:r>
          </a:p>
        </p:txBody>
      </p:sp>
      <p:sp>
        <p:nvSpPr>
          <p:cNvPr id="13" name="Rectangle 12"/>
          <p:cNvSpPr/>
          <p:nvPr/>
        </p:nvSpPr>
        <p:spPr>
          <a:xfrm>
            <a:off x="5174882" y="4160520"/>
            <a:ext cx="1842205" cy="1051560"/>
          </a:xfrm>
          <a:prstGeom prst="rect">
            <a:avLst/>
          </a:prstGeom>
          <a:solidFill>
            <a:srgbClr val="92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034" y="4315968"/>
            <a:ext cx="1695901" cy="402336"/>
          </a:xfrm>
          <a:prstGeom prst="rect">
            <a:avLst/>
          </a:prstGeom>
          <a:noFill/>
        </p:spPr>
        <p:txBody>
          <a:bodyPr wrap="square" lIns="0" rIns="0" tIns="0" bIns="0" anchor="t">
            <a:spAutoFit/>
          </a:bodyPr>
          <a:lstStyle/>
          <a:p>
            <a:pPr algn="ctr">
              <a:lnSpc>
                <a:spcPct val="100000"/>
              </a:lnSpc>
            </a:pPr>
            <a:r>
              <a:rPr sz="2200" b="1" i="0">
                <a:solidFill>
                  <a:srgbClr val="FFFFFF"/>
                </a:solidFill>
                <a:latin typeface="Calibri"/>
              </a:rPr>
              <a:t>78</a:t>
            </a:r>
          </a:p>
        </p:txBody>
      </p:sp>
      <p:sp>
        <p:nvSpPr>
          <p:cNvPr id="15" name="TextBox 14"/>
          <p:cNvSpPr txBox="1"/>
          <p:nvPr/>
        </p:nvSpPr>
        <p:spPr>
          <a:xfrm>
            <a:off x="5248034" y="4754880"/>
            <a:ext cx="1695901" cy="384048"/>
          </a:xfrm>
          <a:prstGeom prst="rect">
            <a:avLst/>
          </a:prstGeom>
          <a:noFill/>
        </p:spPr>
        <p:txBody>
          <a:bodyPr wrap="square" lIns="0" rIns="0" tIns="0" bIns="0" anchor="t">
            <a:spAutoFit/>
          </a:bodyPr>
          <a:lstStyle/>
          <a:p>
            <a:pPr algn="ctr">
              <a:lnSpc>
                <a:spcPct val="105000"/>
              </a:lnSpc>
            </a:pPr>
            <a:r>
              <a:rPr sz="950" b="0" i="0">
                <a:solidFill>
                  <a:srgbClr val="F0C8CC"/>
                </a:solidFill>
                <a:latin typeface="Calibri"/>
              </a:rPr>
              <a:t>colocalised
PP.H4 ≥ 0.8</a:t>
            </a:r>
          </a:p>
        </p:txBody>
      </p:sp>
      <p:sp>
        <p:nvSpPr>
          <p:cNvPr id="16" name="Rectangle 15"/>
          <p:cNvSpPr/>
          <p:nvPr/>
        </p:nvSpPr>
        <p:spPr>
          <a:xfrm>
            <a:off x="7236543" y="4160520"/>
            <a:ext cx="1842205" cy="1051560"/>
          </a:xfrm>
          <a:prstGeom prst="rect">
            <a:avLst/>
          </a:prstGeom>
          <a:solidFill>
            <a:srgbClr val="92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09695" y="4315968"/>
            <a:ext cx="1695901" cy="402336"/>
          </a:xfrm>
          <a:prstGeom prst="rect">
            <a:avLst/>
          </a:prstGeom>
          <a:noFill/>
        </p:spPr>
        <p:txBody>
          <a:bodyPr wrap="square" lIns="0" rIns="0" tIns="0" bIns="0" anchor="t">
            <a:spAutoFit/>
          </a:bodyPr>
          <a:lstStyle/>
          <a:p>
            <a:pPr algn="ctr">
              <a:lnSpc>
                <a:spcPct val="100000"/>
              </a:lnSpc>
            </a:pPr>
            <a:r>
              <a:rPr sz="2200" b="1" i="0">
                <a:solidFill>
                  <a:srgbClr val="FFFFFF"/>
                </a:solidFill>
                <a:latin typeface="Calibri"/>
              </a:rPr>
              <a:t>32</a:t>
            </a:r>
          </a:p>
        </p:txBody>
      </p:sp>
      <p:sp>
        <p:nvSpPr>
          <p:cNvPr id="18" name="TextBox 17"/>
          <p:cNvSpPr txBox="1"/>
          <p:nvPr/>
        </p:nvSpPr>
        <p:spPr>
          <a:xfrm>
            <a:off x="7309695" y="4754880"/>
            <a:ext cx="1695901" cy="384048"/>
          </a:xfrm>
          <a:prstGeom prst="rect">
            <a:avLst/>
          </a:prstGeom>
          <a:noFill/>
        </p:spPr>
        <p:txBody>
          <a:bodyPr wrap="square" lIns="0" rIns="0" tIns="0" bIns="0" anchor="t">
            <a:spAutoFit/>
          </a:bodyPr>
          <a:lstStyle/>
          <a:p>
            <a:pPr algn="ctr">
              <a:lnSpc>
                <a:spcPct val="105000"/>
              </a:lnSpc>
            </a:pPr>
            <a:r>
              <a:rPr sz="950" b="0" i="0">
                <a:solidFill>
                  <a:srgbClr val="F0C8CC"/>
                </a:solidFill>
                <a:latin typeface="Calibri"/>
              </a:rPr>
              <a:t>replicated
Finland → England</a:t>
            </a:r>
          </a:p>
        </p:txBody>
      </p:sp>
      <p:sp>
        <p:nvSpPr>
          <p:cNvPr id="19" name="Rectangle 18"/>
          <p:cNvSpPr/>
          <p:nvPr/>
        </p:nvSpPr>
        <p:spPr>
          <a:xfrm>
            <a:off x="9298204" y="4160520"/>
            <a:ext cx="1842205" cy="1051560"/>
          </a:xfrm>
          <a:prstGeom prst="rect">
            <a:avLst/>
          </a:prstGeom>
          <a:solidFill>
            <a:srgbClr val="92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1356" y="4315968"/>
            <a:ext cx="1695901" cy="402336"/>
          </a:xfrm>
          <a:prstGeom prst="rect">
            <a:avLst/>
          </a:prstGeom>
          <a:noFill/>
        </p:spPr>
        <p:txBody>
          <a:bodyPr wrap="square" lIns="0" rIns="0" tIns="0" bIns="0" anchor="t">
            <a:spAutoFit/>
          </a:bodyPr>
          <a:lstStyle/>
          <a:p>
            <a:pPr algn="ctr">
              <a:lnSpc>
                <a:spcPct val="100000"/>
              </a:lnSpc>
            </a:pPr>
            <a:r>
              <a:rPr sz="2200" b="1" i="0">
                <a:solidFill>
                  <a:srgbClr val="FFFFFF"/>
                </a:solidFill>
                <a:latin typeface="Calibri"/>
              </a:rPr>
              <a:t>1</a:t>
            </a:r>
          </a:p>
        </p:txBody>
      </p:sp>
      <p:sp>
        <p:nvSpPr>
          <p:cNvPr id="21" name="TextBox 20"/>
          <p:cNvSpPr txBox="1"/>
          <p:nvPr/>
        </p:nvSpPr>
        <p:spPr>
          <a:xfrm>
            <a:off x="9371356" y="4754880"/>
            <a:ext cx="1695901" cy="384048"/>
          </a:xfrm>
          <a:prstGeom prst="rect">
            <a:avLst/>
          </a:prstGeom>
          <a:noFill/>
        </p:spPr>
        <p:txBody>
          <a:bodyPr wrap="square" lIns="0" rIns="0" tIns="0" bIns="0" anchor="t">
            <a:spAutoFit/>
          </a:bodyPr>
          <a:lstStyle/>
          <a:p>
            <a:pPr algn="ctr">
              <a:lnSpc>
                <a:spcPct val="105000"/>
              </a:lnSpc>
            </a:pPr>
            <a:r>
              <a:rPr sz="950" b="0" i="0">
                <a:solidFill>
                  <a:srgbClr val="F0C8CC"/>
                </a:solidFill>
                <a:latin typeface="Calibri"/>
              </a:rPr>
              <a:t>recovered known
drug axis</a:t>
            </a:r>
          </a:p>
        </p:txBody>
      </p:sp>
      <p:sp>
        <p:nvSpPr>
          <p:cNvPr id="22" name="TextBox 21"/>
          <p:cNvSpPr txBox="1"/>
          <p:nvPr/>
        </p:nvSpPr>
        <p:spPr>
          <a:xfrm>
            <a:off x="1051560" y="5577840"/>
            <a:ext cx="10088849" cy="320040"/>
          </a:xfrm>
          <a:prstGeom prst="rect">
            <a:avLst/>
          </a:prstGeom>
          <a:noFill/>
        </p:spPr>
        <p:txBody>
          <a:bodyPr wrap="square" lIns="0" rIns="0" tIns="0" bIns="0" anchor="t">
            <a:spAutoFit/>
          </a:bodyPr>
          <a:lstStyle/>
          <a:p>
            <a:pPr algn="l">
              <a:lnSpc>
                <a:spcPct val="100000"/>
              </a:lnSpc>
            </a:pPr>
            <a:r>
              <a:rPr sz="1100" b="0" i="0">
                <a:solidFill>
                  <a:srgbClr val="F2B8B8"/>
                </a:solidFill>
                <a:latin typeface="Calibri"/>
              </a:rPr>
              <a:t>Human Plasma Immune Atlas · layer 7 · FinnGen R12 cardiovascular chapter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1  |  Cardiovascular evidence funnel</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What survives each layer</a:t>
            </a:r>
          </a:p>
        </p:txBody>
      </p:sp>
      <p:pic>
        <p:nvPicPr>
          <p:cNvPr id="6" name="Picture 5" descr="trim_CVN1_evidence_funnel.png"/>
          <p:cNvPicPr>
            <a:picLocks noChangeAspect="1"/>
          </p:cNvPicPr>
          <p:nvPr/>
        </p:nvPicPr>
        <p:blipFill>
          <a:blip r:embed="rId2"/>
          <a:stretch>
            <a:fillRect/>
          </a:stretch>
        </p:blipFill>
        <p:spPr>
          <a:xfrm>
            <a:off x="384048" y="1188719"/>
            <a:ext cx="7916833" cy="5212080"/>
          </a:xfrm>
          <a:prstGeom prst="rect">
            <a:avLst/>
          </a:prstGeom>
        </p:spPr>
      </p:pic>
      <p:sp>
        <p:nvSpPr>
          <p:cNvPr id="7" name="Rectangle 6"/>
          <p:cNvSpPr/>
          <p:nvPr/>
        </p:nvSpPr>
        <p:spPr>
          <a:xfrm>
            <a:off x="8611777" y="1188719"/>
            <a:ext cx="20116" cy="5212080"/>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94657" y="1188719"/>
            <a:ext cx="3013263" cy="5212080"/>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Of 78,605 cis-MR tests against cardiovascular endpoints, 191 are causal at FDR &lt; 5 %, 78 colocalise at PP.H4 ≥ 0.8, 32 replicate in an independent UK Biobank population, and 5 are confirmed at the circulating-protein level. Each layer is an independent filter, so the surviving set is the therapeutically actionable core.</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2  |  How novel is the cardiovascular signal?</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Engine class composition, and cardiovascular versus the rest of the phenome</a:t>
            </a:r>
          </a:p>
        </p:txBody>
      </p:sp>
      <p:pic>
        <p:nvPicPr>
          <p:cNvPr id="6" name="Picture 5" descr="trim_CVN2_novelty_classes.png"/>
          <p:cNvPicPr>
            <a:picLocks noChangeAspect="1"/>
          </p:cNvPicPr>
          <p:nvPr/>
        </p:nvPicPr>
        <p:blipFill>
          <a:blip r:embed="rId2"/>
          <a:stretch>
            <a:fillRect/>
          </a:stretch>
        </p:blipFill>
        <p:spPr>
          <a:xfrm>
            <a:off x="384048" y="1280383"/>
            <a:ext cx="11423873" cy="4132640"/>
          </a:xfrm>
          <a:prstGeom prst="rect">
            <a:avLst/>
          </a:prstGeom>
        </p:spPr>
      </p:pic>
      <p:sp>
        <p:nvSpPr>
          <p:cNvPr id="7" name="Rectangle 6"/>
          <p:cNvSpPr/>
          <p:nvPr/>
        </p:nvSpPr>
        <p:spPr>
          <a:xfrm>
            <a:off x="384048" y="5650992"/>
            <a:ext cx="11423873" cy="20116"/>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5742432"/>
            <a:ext cx="11423873" cy="749808"/>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(A) The 191 cardiovascular causal pairs split by novelty class: 78 NOVEL with colocalisation support and only 1 recovered known drug axis. (B) Cardiovascular disease is enriched for novel colocalised signal relative to the rest of the phenome and is almost devoid of recovered known axes — it is unexploited therapeutic territory.</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3  |  Top 25 novel cardiovascular targets</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Ranked by novelty priority</a:t>
            </a:r>
          </a:p>
        </p:txBody>
      </p:sp>
      <p:pic>
        <p:nvPicPr>
          <p:cNvPr id="6" name="Picture 5" descr="trim_CVN3_top25_priority.png"/>
          <p:cNvPicPr>
            <a:picLocks noChangeAspect="1"/>
          </p:cNvPicPr>
          <p:nvPr/>
        </p:nvPicPr>
        <p:blipFill>
          <a:blip r:embed="rId2"/>
          <a:stretch>
            <a:fillRect/>
          </a:stretch>
        </p:blipFill>
        <p:spPr>
          <a:xfrm>
            <a:off x="595597" y="1188719"/>
            <a:ext cx="6437917" cy="5212080"/>
          </a:xfrm>
          <a:prstGeom prst="rect">
            <a:avLst/>
          </a:prstGeom>
        </p:spPr>
      </p:pic>
      <p:sp>
        <p:nvSpPr>
          <p:cNvPr id="7" name="Rectangle 6"/>
          <p:cNvSpPr/>
          <p:nvPr/>
        </p:nvSpPr>
        <p:spPr>
          <a:xfrm>
            <a:off x="7555961" y="1188719"/>
            <a:ext cx="20116" cy="5212080"/>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38841" y="1188719"/>
            <a:ext cx="4069080" cy="5212080"/>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Every bar is a live causal claim carrying a direction of effect, a colocalisation posterior and, where an independent GWAS exists, a two-population test. SLC12A2 and PPP3R1 dominate the venous endpoints; PSRC1 and FES the coronary and hypertensive ones.</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4  |  Novelty against causal strength</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Novel does not mean weak</a:t>
            </a:r>
          </a:p>
        </p:txBody>
      </p:sp>
      <p:pic>
        <p:nvPicPr>
          <p:cNvPr id="6" name="Picture 5" descr="trim_CVN4_novelty_vs_strength.png"/>
          <p:cNvPicPr>
            <a:picLocks noChangeAspect="1"/>
          </p:cNvPicPr>
          <p:nvPr/>
        </p:nvPicPr>
        <p:blipFill>
          <a:blip r:embed="rId2"/>
          <a:stretch>
            <a:fillRect/>
          </a:stretch>
        </p:blipFill>
        <p:spPr>
          <a:xfrm>
            <a:off x="384048" y="1188719"/>
            <a:ext cx="7890287" cy="5212080"/>
          </a:xfrm>
          <a:prstGeom prst="rect">
            <a:avLst/>
          </a:prstGeom>
        </p:spPr>
      </p:pic>
      <p:sp>
        <p:nvSpPr>
          <p:cNvPr id="7" name="Rectangle 6"/>
          <p:cNvSpPr/>
          <p:nvPr/>
        </p:nvSpPr>
        <p:spPr>
          <a:xfrm>
            <a:off x="8585231" y="1188719"/>
            <a:ext cx="20116" cy="5212080"/>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8111" y="1188719"/>
            <a:ext cx="3039810" cy="5212080"/>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Novelty priority plotted against MR evidence. Several of the least previously described proteins carry the strongest cardiovascular causal evidence in the atlas, so the novel set cannot be dismissed as the residue left after the strong signals were taken.</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5  |  Cardiovascular endpoints reached</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Not only atherosclerosis</a:t>
            </a:r>
          </a:p>
        </p:txBody>
      </p:sp>
      <p:pic>
        <p:nvPicPr>
          <p:cNvPr id="6" name="Picture 5" descr="trim_CVN5_disease_map.png"/>
          <p:cNvPicPr>
            <a:picLocks noChangeAspect="1"/>
          </p:cNvPicPr>
          <p:nvPr/>
        </p:nvPicPr>
        <p:blipFill>
          <a:blip r:embed="rId2"/>
          <a:stretch>
            <a:fillRect/>
          </a:stretch>
        </p:blipFill>
        <p:spPr>
          <a:xfrm>
            <a:off x="384048" y="1188719"/>
            <a:ext cx="8002893" cy="5212080"/>
          </a:xfrm>
          <a:prstGeom prst="rect">
            <a:avLst/>
          </a:prstGeom>
        </p:spPr>
      </p:pic>
      <p:sp>
        <p:nvSpPr>
          <p:cNvPr id="7" name="Rectangle 6"/>
          <p:cNvSpPr/>
          <p:nvPr/>
        </p:nvSpPr>
        <p:spPr>
          <a:xfrm>
            <a:off x="8697837" y="1188719"/>
            <a:ext cx="20116" cy="5212080"/>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80717" y="1188719"/>
            <a:ext cx="2927204" cy="5212080"/>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Hypertension, venous disease, atrial fibrillation and revascularisation endpoints each carry independent plasma-immune causal architecture. The venous endpoints in particular are dominated by novel colocalised proteins with essentially no prior immune-therapeutic literature.</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6  |  Therapeutic direction and implied action</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The protective majority</a:t>
            </a:r>
          </a:p>
        </p:txBody>
      </p:sp>
      <p:pic>
        <p:nvPicPr>
          <p:cNvPr id="6" name="Picture 5" descr="trim_CVN6_direction_action.png"/>
          <p:cNvPicPr>
            <a:picLocks noChangeAspect="1"/>
          </p:cNvPicPr>
          <p:nvPr/>
        </p:nvPicPr>
        <p:blipFill>
          <a:blip r:embed="rId2"/>
          <a:stretch>
            <a:fillRect/>
          </a:stretch>
        </p:blipFill>
        <p:spPr>
          <a:xfrm>
            <a:off x="612352" y="1188719"/>
            <a:ext cx="10967264" cy="4315968"/>
          </a:xfrm>
          <a:prstGeom prst="rect">
            <a:avLst/>
          </a:prstGeom>
        </p:spPr>
      </p:pic>
      <p:sp>
        <p:nvSpPr>
          <p:cNvPr id="7" name="Rectangle 6"/>
          <p:cNvSpPr/>
          <p:nvPr/>
        </p:nvSpPr>
        <p:spPr>
          <a:xfrm>
            <a:off x="384048" y="5650992"/>
            <a:ext cx="11423873" cy="20116"/>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5742432"/>
            <a:ext cx="11423873" cy="749808"/>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(A) Distribution of causal effect direction: 116 of 191 cardiovascular pairs are protective versus 75 risk-increasing. (B) Implied therapeutic action by novelty class. Because protective effects predominate, broad immunosuppression would be expected to harm more of this axis than it helps.</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7  |  Evidence tier and druggability</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What could be acted on now</a:t>
            </a:r>
          </a:p>
        </p:txBody>
      </p:sp>
      <p:pic>
        <p:nvPicPr>
          <p:cNvPr id="6" name="Picture 5" descr="trim_CVN7_tiers_druggability.png"/>
          <p:cNvPicPr>
            <a:picLocks noChangeAspect="1"/>
          </p:cNvPicPr>
          <p:nvPr/>
        </p:nvPicPr>
        <p:blipFill>
          <a:blip r:embed="rId2"/>
          <a:stretch>
            <a:fillRect/>
          </a:stretch>
        </p:blipFill>
        <p:spPr>
          <a:xfrm>
            <a:off x="391839" y="1188719"/>
            <a:ext cx="11408289" cy="4315968"/>
          </a:xfrm>
          <a:prstGeom prst="rect">
            <a:avLst/>
          </a:prstGeom>
        </p:spPr>
      </p:pic>
      <p:sp>
        <p:nvSpPr>
          <p:cNvPr id="7" name="Rectangle 6"/>
          <p:cNvSpPr/>
          <p:nvPr/>
        </p:nvSpPr>
        <p:spPr>
          <a:xfrm>
            <a:off x="384048" y="5650992"/>
            <a:ext cx="11423873" cy="20116"/>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5742432"/>
            <a:ext cx="11423873" cy="749808"/>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(A) Integrated evidence tier; tier 1–2 pairs carry protein-level or replicated colocalised support. (B) Druggability: 115 pairs have a tractability route and 43 sit on proteins already targeted by an approved drug in another indication — immediate repurposing candidates.</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8  |  Worked cardiovascular case studies</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The six highest-priority novel proteins</a:t>
            </a:r>
          </a:p>
        </p:txBody>
      </p:sp>
      <p:pic>
        <p:nvPicPr>
          <p:cNvPr id="6" name="Picture 5" descr="trim_CVN8_case_studies.png"/>
          <p:cNvPicPr>
            <a:picLocks noChangeAspect="1"/>
          </p:cNvPicPr>
          <p:nvPr/>
        </p:nvPicPr>
        <p:blipFill>
          <a:blip r:embed="rId2"/>
          <a:stretch>
            <a:fillRect/>
          </a:stretch>
        </p:blipFill>
        <p:spPr>
          <a:xfrm>
            <a:off x="1785877" y="1188719"/>
            <a:ext cx="8620214" cy="4315968"/>
          </a:xfrm>
          <a:prstGeom prst="rect">
            <a:avLst/>
          </a:prstGeom>
        </p:spPr>
      </p:pic>
      <p:sp>
        <p:nvSpPr>
          <p:cNvPr id="7" name="Rectangle 6"/>
          <p:cNvSpPr/>
          <p:nvPr/>
        </p:nvSpPr>
        <p:spPr>
          <a:xfrm>
            <a:off x="384048" y="5650992"/>
            <a:ext cx="11423873" cy="20116"/>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5742432"/>
            <a:ext cx="11423873" cy="749808"/>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For each protein, every cardiovascular endpoint it causes, with the colocalisation posterior printed above each point. Red = risk-increasing, blue = protective. Consistency of direction across related endpoints is itself evidence: a horizontal-pleiotropy artefact would not respect disease boundaries this cleanly.</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9  |  Coronary disease triangulation</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Three independent lines of evidence on one axis</a:t>
            </a:r>
          </a:p>
        </p:txBody>
      </p:sp>
      <p:pic>
        <p:nvPicPr>
          <p:cNvPr id="6" name="Picture 5" descr="trim_HEART2_chd_triangulation.png"/>
          <p:cNvPicPr>
            <a:picLocks noChangeAspect="1"/>
          </p:cNvPicPr>
          <p:nvPr/>
        </p:nvPicPr>
        <p:blipFill>
          <a:blip r:embed="rId2"/>
          <a:stretch>
            <a:fillRect/>
          </a:stretch>
        </p:blipFill>
        <p:spPr>
          <a:xfrm>
            <a:off x="2017157" y="1188719"/>
            <a:ext cx="8157653" cy="4315968"/>
          </a:xfrm>
          <a:prstGeom prst="rect">
            <a:avLst/>
          </a:prstGeom>
        </p:spPr>
      </p:pic>
      <p:sp>
        <p:nvSpPr>
          <p:cNvPr id="7" name="Rectangle 6"/>
          <p:cNvSpPr/>
          <p:nvPr/>
        </p:nvSpPr>
        <p:spPr>
          <a:xfrm>
            <a:off x="384048" y="5650992"/>
            <a:ext cx="11423873" cy="20116"/>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5742432"/>
            <a:ext cx="11423873" cy="749808"/>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cis-eQTL MR, colocalisation and two-population replication triangulated on coronary heart disease. Agreement across methods that fail in different ways is stronger evidence than any single method at a smaller p-value.</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46304"/>
          </a:xfrm>
          <a:prstGeom prst="rect">
            <a:avLst/>
          </a:prstGeom>
          <a:solidFill>
            <a:srgbClr val="7D1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10896"/>
            <a:ext cx="68580" cy="7132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
            <a:ext cx="11240993" cy="365760"/>
          </a:xfrm>
          <a:prstGeom prst="rect">
            <a:avLst/>
          </a:prstGeom>
          <a:noFill/>
        </p:spPr>
        <p:txBody>
          <a:bodyPr wrap="square" lIns="0" rIns="0" tIns="0" bIns="0" anchor="ctr">
            <a:spAutoFit/>
          </a:bodyPr>
          <a:lstStyle/>
          <a:p>
            <a:pPr algn="l">
              <a:lnSpc>
                <a:spcPct val="100000"/>
              </a:lnSpc>
            </a:pPr>
            <a:r>
              <a:rPr sz="1900" b="1" i="0">
                <a:solidFill>
                  <a:srgbClr val="1A1A1A"/>
                </a:solidFill>
                <a:latin typeface="Calibri"/>
              </a:rPr>
              <a:t>Figure 10  |  Druggable cardiovascular targets</a:t>
            </a:r>
          </a:p>
        </p:txBody>
      </p:sp>
      <p:sp>
        <p:nvSpPr>
          <p:cNvPr id="5" name="TextBox 4"/>
          <p:cNvSpPr txBox="1"/>
          <p:nvPr/>
        </p:nvSpPr>
        <p:spPr>
          <a:xfrm>
            <a:off x="566928" y="676656"/>
            <a:ext cx="11240993" cy="347472"/>
          </a:xfrm>
          <a:prstGeom prst="rect">
            <a:avLst/>
          </a:prstGeom>
          <a:noFill/>
        </p:spPr>
        <p:txBody>
          <a:bodyPr wrap="square" lIns="0" rIns="0" tIns="0" bIns="0" anchor="ctr">
            <a:spAutoFit/>
          </a:bodyPr>
          <a:lstStyle/>
          <a:p>
            <a:pPr algn="l">
              <a:lnSpc>
                <a:spcPct val="100000"/>
              </a:lnSpc>
            </a:pPr>
            <a:r>
              <a:rPr sz="1150" b="0" i="0">
                <a:solidFill>
                  <a:srgbClr val="6B6B6B"/>
                </a:solidFill>
                <a:latin typeface="Calibri"/>
              </a:rPr>
              <a:t>The actionable short-list</a:t>
            </a:r>
          </a:p>
        </p:txBody>
      </p:sp>
      <p:pic>
        <p:nvPicPr>
          <p:cNvPr id="6" name="Picture 5" descr="trim_HEART3_druggable_targets.png"/>
          <p:cNvPicPr>
            <a:picLocks noChangeAspect="1"/>
          </p:cNvPicPr>
          <p:nvPr/>
        </p:nvPicPr>
        <p:blipFill>
          <a:blip r:embed="rId2"/>
          <a:stretch>
            <a:fillRect/>
          </a:stretch>
        </p:blipFill>
        <p:spPr>
          <a:xfrm>
            <a:off x="384048" y="1188719"/>
            <a:ext cx="7284482" cy="5212080"/>
          </a:xfrm>
          <a:prstGeom prst="rect">
            <a:avLst/>
          </a:prstGeom>
        </p:spPr>
      </p:pic>
      <p:sp>
        <p:nvSpPr>
          <p:cNvPr id="7" name="Rectangle 6"/>
          <p:cNvSpPr/>
          <p:nvPr/>
        </p:nvSpPr>
        <p:spPr>
          <a:xfrm>
            <a:off x="7979426" y="1188719"/>
            <a:ext cx="20116" cy="5212080"/>
          </a:xfrm>
          <a:prstGeom prst="rect">
            <a:avLst/>
          </a:prstGeom>
          <a:solidFill>
            <a:srgbClr val="DDDD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62306" y="1188719"/>
            <a:ext cx="3645614" cy="5212080"/>
          </a:xfrm>
          <a:prstGeom prst="rect">
            <a:avLst/>
          </a:prstGeom>
          <a:noFill/>
        </p:spPr>
        <p:txBody>
          <a:bodyPr wrap="square" lIns="0" rIns="0" tIns="0" bIns="0" anchor="t">
            <a:spAutoFit/>
          </a:bodyPr>
          <a:lstStyle/>
          <a:p>
            <a:pPr algn="l">
              <a:lnSpc>
                <a:spcPct val="110000"/>
              </a:lnSpc>
            </a:pPr>
            <a:r>
              <a:rPr sz="1150" b="0" i="0">
                <a:solidFill>
                  <a:srgbClr val="333333"/>
                </a:solidFill>
                <a:latin typeface="Calibri"/>
              </a:rPr>
              <a:t>Cardiovascular causal proteins that are tractable, ordered by evidence. This is the handover point from genetics to a drug-discovery programme.</a:t>
            </a:r>
          </a:p>
        </p:txBody>
      </p:sp>
      <p:sp>
        <p:nvSpPr>
          <p:cNvPr id="9" name="TextBox 8"/>
          <p:cNvSpPr txBox="1"/>
          <p:nvPr/>
        </p:nvSpPr>
        <p:spPr>
          <a:xfrm>
            <a:off x="384048" y="6528816"/>
            <a:ext cx="10692353" cy="274320"/>
          </a:xfrm>
          <a:prstGeom prst="rect">
            <a:avLst/>
          </a:prstGeom>
          <a:noFill/>
        </p:spPr>
        <p:txBody>
          <a:bodyPr wrap="square" lIns="0" rIns="0" tIns="0" bIns="0" anchor="ctr">
            <a:spAutoFit/>
          </a:bodyPr>
          <a:lstStyle/>
          <a:p>
            <a:pPr algn="l">
              <a:lnSpc>
                <a:spcPct val="100000"/>
              </a:lnSpc>
            </a:pPr>
            <a:r>
              <a:rPr sz="850" b="0" i="0">
                <a:solidFill>
                  <a:srgbClr val="6B6B6B"/>
                </a:solidFill>
                <a:latin typeface="Calibri"/>
              </a:rPr>
              <a:t>Human Plasma Immune Atlas   ·   cardiovascular novelty</a:t>
            </a:r>
          </a:p>
        </p:txBody>
      </p:sp>
      <p:sp>
        <p:nvSpPr>
          <p:cNvPr id="10" name="TextBox 9"/>
          <p:cNvSpPr txBox="1"/>
          <p:nvPr/>
        </p:nvSpPr>
        <p:spPr>
          <a:xfrm>
            <a:off x="11076401" y="6528816"/>
            <a:ext cx="731520" cy="274320"/>
          </a:xfrm>
          <a:prstGeom prst="rect">
            <a:avLst/>
          </a:prstGeom>
          <a:noFill/>
        </p:spPr>
        <p:txBody>
          <a:bodyPr wrap="square" lIns="0" rIns="0" tIns="0" bIns="0" anchor="ctr">
            <a:spAutoFit/>
          </a:bodyPr>
          <a:lstStyle/>
          <a:p>
            <a:pPr algn="r">
              <a:lnSpc>
                <a:spcPct val="100000"/>
              </a:lnSpc>
            </a:pPr>
            <a:r>
              <a:rPr sz="850" b="0" i="0">
                <a:solidFill>
                  <a:srgbClr val="6B6B6B"/>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